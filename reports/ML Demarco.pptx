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58" r:id="rId3"/>
    <p:sldId id="272" r:id="rId4"/>
    <p:sldId id="273" r:id="rId5"/>
    <p:sldId id="274" r:id="rId6"/>
    <p:sldId id="275" r:id="rId7"/>
    <p:sldId id="276" r:id="rId8"/>
    <p:sldId id="277" r:id="rId9"/>
    <p:sldId id="279" r:id="rId10"/>
    <p:sldId id="278" r:id="rId11"/>
    <p:sldId id="283" r:id="rId12"/>
    <p:sldId id="284" r:id="rId13"/>
    <p:sldId id="282" r:id="rId14"/>
    <p:sldId id="285" r:id="rId15"/>
    <p:sldId id="296" r:id="rId16"/>
    <p:sldId id="290" r:id="rId17"/>
    <p:sldId id="287" r:id="rId18"/>
    <p:sldId id="288" r:id="rId19"/>
    <p:sldId id="289" r:id="rId20"/>
    <p:sldId id="292" r:id="rId21"/>
    <p:sldId id="293" r:id="rId22"/>
    <p:sldId id="294" r:id="rId23"/>
    <p:sldId id="297" r:id="rId24"/>
    <p:sldId id="295" r:id="rId2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A47"/>
    <a:srgbClr val="E0E0E0"/>
    <a:srgbClr val="FAFAFA"/>
    <a:srgbClr val="F0F0F0"/>
    <a:srgbClr val="F2F2F2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Stile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Stile medio 4 - Color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56" autoAdjust="0"/>
  </p:normalViewPr>
  <p:slideViewPr>
    <p:cSldViewPr snapToGrid="0">
      <p:cViewPr>
        <p:scale>
          <a:sx n="75" d="100"/>
          <a:sy n="75" d="100"/>
        </p:scale>
        <p:origin x="195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C7C03-3519-4395-88B4-B745EB110964}" type="datetimeFigureOut">
              <a:rPr lang="it-IT" smtClean="0"/>
              <a:t>22/09/2022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AFE55-E47C-4F88-960B-023A0A1986D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6884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6073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5264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2330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079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5836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691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7576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8429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0104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1139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95898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98458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6808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74268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7243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53387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11945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53715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9427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39861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13503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92371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3526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2DBD81-992F-4D7E-B4B8-1FB15FEB1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C5C62D2-C938-4644-835C-06E3188AF6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798568-A987-420C-8A74-9ACE29929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DF0F-DC8A-4CB8-A88D-DFE5D39D97D3}" type="datetimeFigureOut">
              <a:rPr lang="it-IT" smtClean="0"/>
              <a:t>22/09/2022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8B1FD31-625A-4A01-B52D-FF5CE18D4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33D7DB-3A86-4484-96F6-34046A2DC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6571-394B-4CBA-9B77-FA6F223E8CB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4292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57EB19-D01F-46F1-B4F8-A58D6600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BCABA9-6612-4CEC-9053-4D9EEFBE3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4CD65EF-E94F-4D78-B3BE-5D5306377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DF0F-DC8A-4CB8-A88D-DFE5D39D97D3}" type="datetimeFigureOut">
              <a:rPr lang="it-IT" smtClean="0"/>
              <a:t>22/09/2022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8C6EB4-1F61-48C1-B5E3-683FAD8D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698CA23-03B9-4C36-AED8-704C35CF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6571-394B-4CBA-9B77-FA6F223E8CB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4425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E505C6-5C5C-4073-8F30-DE51E69EA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1C672F4-6DF5-4DDD-9CD3-679DE1B13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400FEE-478A-4163-BAD1-3B87090C6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DF0F-DC8A-4CB8-A88D-DFE5D39D97D3}" type="datetimeFigureOut">
              <a:rPr lang="it-IT" smtClean="0"/>
              <a:t>22/09/2022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1CADA1-2584-485C-B17D-DE346BD25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E4178B0-DFE4-4C3F-B6FC-C40D3135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6571-394B-4CBA-9B77-FA6F223E8CB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5210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97EA62-3A2B-48E6-AEC6-543F6EB0B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F0F2A9-63FF-4B9F-BF93-5455130D86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9CDCBA1-61D5-498C-93D6-7E1251B51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3C62ED-3317-4F01-B999-E9953BD8C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DF0F-DC8A-4CB8-A88D-DFE5D39D97D3}" type="datetimeFigureOut">
              <a:rPr lang="it-IT" smtClean="0"/>
              <a:t>22/09/2022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F5CD2A3-1312-45F7-BE7A-4A79264C2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55B7F9-9715-428D-BC12-542368989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6571-394B-4CBA-9B77-FA6F223E8CB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2236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030E74-EAAA-42E2-A50F-88DBC5DE4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422337-663B-4A08-8F80-2C35BB846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E294261-5928-4321-9A80-480C77406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333F21A-18F8-43E6-9406-4F7306260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3B04621-A855-4C90-B49D-BD0E4644CD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E1DA1B3-88E6-44A4-8FEF-DF15FE370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DF0F-DC8A-4CB8-A88D-DFE5D39D97D3}" type="datetimeFigureOut">
              <a:rPr lang="it-IT" smtClean="0"/>
              <a:t>22/09/2022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E0D5B7E-75CE-46A9-8813-B28840A7B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50ECF90-E83B-4138-8E7E-6754DA68A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6571-394B-4CBA-9B77-FA6F223E8CB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804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8D1858-54D9-4F25-85D1-C28F09C87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A0CA02E-5968-4BEC-B295-604A66BFC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DF0F-DC8A-4CB8-A88D-DFE5D39D97D3}" type="datetimeFigureOut">
              <a:rPr lang="it-IT" smtClean="0"/>
              <a:t>22/09/2022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B67E214-3845-4573-AD2D-DA7B3DBB0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0037088-276F-4AF4-AE2B-365320A32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6571-394B-4CBA-9B77-FA6F223E8CB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646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28118D2-D260-41E5-93F4-D97F827BB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DF0F-DC8A-4CB8-A88D-DFE5D39D97D3}" type="datetimeFigureOut">
              <a:rPr lang="it-IT" smtClean="0"/>
              <a:t>22/09/2022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7FA6DD0-5095-4125-91B1-F3BD9C078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49894EB-476C-4AA1-83B6-2C32100F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6571-394B-4CBA-9B77-FA6F223E8CB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8909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FE8C77-E93F-4E1B-ADAA-059B1955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C366FA-C7A9-440D-B1AB-FA7425863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D1071C8-38FC-4CD0-B073-C2DB1AA40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922B402-86C6-4397-9DA3-98C9516C6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DF0F-DC8A-4CB8-A88D-DFE5D39D97D3}" type="datetimeFigureOut">
              <a:rPr lang="it-IT" smtClean="0"/>
              <a:t>22/09/2022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19B292D-9951-4403-99AA-3BBA30135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A70F08E-17B8-4E53-8D84-D02E164A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6571-394B-4CBA-9B77-FA6F223E8CB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7497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888EA7-962D-4F24-98C0-3516025E9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92C53BE-F73D-4AA8-9BBD-0621FC895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6C1F7A3-FF0F-4414-886D-F36B9CF0E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12757D6-766A-49C4-87CF-A7C8BF36E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DF0F-DC8A-4CB8-A88D-DFE5D39D97D3}" type="datetimeFigureOut">
              <a:rPr lang="it-IT" smtClean="0"/>
              <a:t>22/09/2022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6A11E22-CA0A-4679-90A4-348158389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584A778-59DB-4E77-8A5A-8602C9AEC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6571-394B-4CBA-9B77-FA6F223E8CB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5247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50AA1A-555F-458D-812C-8DAFB2819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84ED863-5624-44CD-BC1B-59FC93E5B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4CB7FAE-ADAF-48CF-A79C-B01B9085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DF0F-DC8A-4CB8-A88D-DFE5D39D97D3}" type="datetimeFigureOut">
              <a:rPr lang="it-IT" smtClean="0"/>
              <a:t>22/09/2022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62924F-E29E-4C4B-BCFD-8EEF9F632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9045348-1204-4CB9-ACC2-E102A1F1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6571-394B-4CBA-9B77-FA6F223E8CB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3781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7D9B7C9-9613-4D15-9859-C91C6B17D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C5A99B6-2C67-4166-9148-A4E391834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70CD10-2E85-4942-A9B7-79BA65D0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DF0F-DC8A-4CB8-A88D-DFE5D39D97D3}" type="datetimeFigureOut">
              <a:rPr lang="it-IT" smtClean="0"/>
              <a:t>22/09/2022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CEA7D6-568D-4C85-BC60-263366E73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2B76428-96AB-4C94-A82F-712EE0A8D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6571-394B-4CBA-9B77-FA6F223E8CB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424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2C9021F-A279-4F14-BC14-8999A1E2A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C69DB59-4EAE-4182-8DE1-DA4F050DC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8459074-BC8E-4DD7-8C6F-7DDF9996BC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9DF0F-DC8A-4CB8-A88D-DFE5D39D97D3}" type="datetimeFigureOut">
              <a:rPr lang="it-IT" smtClean="0"/>
              <a:t>22/09/2022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6097A5-E5EF-4EE6-9086-02482754A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E6092D-8FA3-40D9-A32B-8935EB9D57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16571-394B-4CBA-9B77-FA6F223E8CB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3133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fif"/><Relationship Id="rId4" Type="http://schemas.openxmlformats.org/officeDocument/2006/relationships/image" Target="../media/image2.jf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98FD69CA-949F-449F-BC1C-AC287E8DCF48}"/>
              </a:ext>
            </a:extLst>
          </p:cNvPr>
          <p:cNvSpPr txBox="1"/>
          <p:nvPr/>
        </p:nvSpPr>
        <p:spPr>
          <a:xfrm>
            <a:off x="1504950" y="1460997"/>
            <a:ext cx="93916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b="1" dirty="0"/>
              <a:t>Machine Learning </a:t>
            </a:r>
            <a:r>
              <a:rPr lang="it-IT" sz="4000" b="1" dirty="0" err="1"/>
              <a:t>Exam</a:t>
            </a:r>
            <a:endParaRPr lang="it-IT" sz="4000" b="1" dirty="0"/>
          </a:p>
        </p:txBody>
      </p:sp>
      <p:sp>
        <p:nvSpPr>
          <p:cNvPr id="8" name="Google Shape;348;p59">
            <a:extLst>
              <a:ext uri="{FF2B5EF4-FFF2-40B4-BE49-F238E27FC236}">
                <a16:creationId xmlns:a16="http://schemas.microsoft.com/office/drawing/2014/main" id="{B3423E9E-2BCE-42C3-9484-5102E48AB409}"/>
              </a:ext>
            </a:extLst>
          </p:cNvPr>
          <p:cNvSpPr txBox="1">
            <a:spLocks/>
          </p:cNvSpPr>
          <p:nvPr/>
        </p:nvSpPr>
        <p:spPr>
          <a:xfrm>
            <a:off x="4054145" y="2723620"/>
            <a:ext cx="4083709" cy="63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it-IT" b="1" dirty="0" err="1"/>
              <a:t>Student</a:t>
            </a:r>
            <a:r>
              <a:rPr lang="it-IT" dirty="0"/>
              <a:t>: Gianfranco Demarco</a:t>
            </a:r>
            <a:endParaRPr lang="it-IT" sz="30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F309977-3965-9FC2-FABC-E4DF3AC7E938}"/>
              </a:ext>
            </a:extLst>
          </p:cNvPr>
          <p:cNvSpPr txBox="1"/>
          <p:nvPr/>
        </p:nvSpPr>
        <p:spPr>
          <a:xfrm>
            <a:off x="1504950" y="2071298"/>
            <a:ext cx="93916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b="1" dirty="0"/>
              <a:t>Case Study: License Plate </a:t>
            </a:r>
            <a:r>
              <a:rPr lang="it-IT" sz="4000" b="1" dirty="0" err="1"/>
              <a:t>Recognition</a:t>
            </a:r>
            <a:endParaRPr lang="it-IT" sz="4000" b="1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4BBF25E-080E-872B-6038-4401DD36A8ED}"/>
              </a:ext>
            </a:extLst>
          </p:cNvPr>
          <p:cNvSpPr/>
          <p:nvPr/>
        </p:nvSpPr>
        <p:spPr>
          <a:xfrm>
            <a:off x="3509" y="0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sp>
        <p:nvSpPr>
          <p:cNvPr id="3" name="Google Shape;347;p59">
            <a:extLst>
              <a:ext uri="{FF2B5EF4-FFF2-40B4-BE49-F238E27FC236}">
                <a16:creationId xmlns:a16="http://schemas.microsoft.com/office/drawing/2014/main" id="{4C7D9A09-B31A-E7A6-7FBE-097EE935FFF2}"/>
              </a:ext>
            </a:extLst>
          </p:cNvPr>
          <p:cNvSpPr txBox="1">
            <a:spLocks/>
          </p:cNvSpPr>
          <p:nvPr/>
        </p:nvSpPr>
        <p:spPr>
          <a:xfrm>
            <a:off x="482261" y="-240579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C2D7A3C-79CB-93C1-AA7F-EE3C7CFEB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68" y="57150"/>
            <a:ext cx="391754" cy="394871"/>
          </a:xfrm>
          <a:prstGeom prst="rect">
            <a:avLst/>
          </a:prstGeom>
        </p:spPr>
      </p:pic>
      <p:sp>
        <p:nvSpPr>
          <p:cNvPr id="6" name="Google Shape;347;p59">
            <a:extLst>
              <a:ext uri="{FF2B5EF4-FFF2-40B4-BE49-F238E27FC236}">
                <a16:creationId xmlns:a16="http://schemas.microsoft.com/office/drawing/2014/main" id="{B2A80A84-6F92-BA72-766D-122AE43CCA2E}"/>
              </a:ext>
            </a:extLst>
          </p:cNvPr>
          <p:cNvSpPr txBox="1">
            <a:spLocks/>
          </p:cNvSpPr>
          <p:nvPr/>
        </p:nvSpPr>
        <p:spPr>
          <a:xfrm>
            <a:off x="4888540" y="-259629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93600" y="186174"/>
            <a:ext cx="9504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 err="1">
                <a:ea typeface="Verdana" panose="020B0604030504040204" pitchFamily="34" charset="0"/>
              </a:rPr>
              <a:t>Introduction</a:t>
            </a:r>
            <a:endParaRPr lang="it-IT" sz="35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1046480"/>
            <a:ext cx="1136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License plate recognition: </a:t>
            </a:r>
            <a:r>
              <a:rPr lang="en-US" sz="2400" dirty="0"/>
              <a:t>transcribing the license plate of a vehicle starting from an image or a video</a:t>
            </a:r>
            <a:endParaRPr lang="it-IT" sz="22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sp>
        <p:nvSpPr>
          <p:cNvPr id="17" name="Google Shape;347;p59">
            <a:extLst>
              <a:ext uri="{FF2B5EF4-FFF2-40B4-BE49-F238E27FC236}">
                <a16:creationId xmlns:a16="http://schemas.microsoft.com/office/drawing/2014/main" id="{54428514-4C98-4E38-A5F3-ADF252C78C4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pic>
        <p:nvPicPr>
          <p:cNvPr id="3" name="Immagine 2" descr="Immagine che contiene testo, automobile, esterni, trasporto&#10;&#10;Descrizione generata automaticamente">
            <a:extLst>
              <a:ext uri="{FF2B5EF4-FFF2-40B4-BE49-F238E27FC236}">
                <a16:creationId xmlns:a16="http://schemas.microsoft.com/office/drawing/2014/main" id="{FE0F3948-AE54-1898-C9E9-325DC20CDF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600" y="2484535"/>
            <a:ext cx="2336800" cy="1737995"/>
          </a:xfrm>
          <a:prstGeom prst="rect">
            <a:avLst/>
          </a:prstGeom>
        </p:spPr>
      </p:pic>
      <p:pic>
        <p:nvPicPr>
          <p:cNvPr id="5" name="Immagine 4" descr="Immagine che contiene testo, automobile, esterni, città&#10;&#10;Descrizione generata automaticamente">
            <a:extLst>
              <a:ext uri="{FF2B5EF4-FFF2-40B4-BE49-F238E27FC236}">
                <a16:creationId xmlns:a16="http://schemas.microsoft.com/office/drawing/2014/main" id="{7B6FFE04-7EF2-F63A-87EB-D725EC2869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051" y="2484535"/>
            <a:ext cx="1811420" cy="1811420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9FA0AC36-AE03-E5D6-C562-47852C30023E}"/>
              </a:ext>
            </a:extLst>
          </p:cNvPr>
          <p:cNvCxnSpPr/>
          <p:nvPr/>
        </p:nvCxnSpPr>
        <p:spPr>
          <a:xfrm>
            <a:off x="3842428" y="3390245"/>
            <a:ext cx="126459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ttangolo 7">
            <a:extLst>
              <a:ext uri="{FF2B5EF4-FFF2-40B4-BE49-F238E27FC236}">
                <a16:creationId xmlns:a16="http://schemas.microsoft.com/office/drawing/2014/main" id="{F9D9995D-3EEE-1E3B-F3AA-EE35C0D46213}"/>
              </a:ext>
            </a:extLst>
          </p:cNvPr>
          <p:cNvSpPr/>
          <p:nvPr/>
        </p:nvSpPr>
        <p:spPr>
          <a:xfrm>
            <a:off x="5846325" y="3395009"/>
            <a:ext cx="777707" cy="308254"/>
          </a:xfrm>
          <a:prstGeom prst="rect">
            <a:avLst/>
          </a:prstGeom>
          <a:noFill/>
          <a:ln w="63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190E2F81-15A6-5599-0FDA-54173C1F37FE}"/>
              </a:ext>
            </a:extLst>
          </p:cNvPr>
          <p:cNvCxnSpPr/>
          <p:nvPr/>
        </p:nvCxnSpPr>
        <p:spPr>
          <a:xfrm>
            <a:off x="7477168" y="3429000"/>
            <a:ext cx="126459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165F99D-DE7E-573C-AB7E-96A443CB9814}"/>
              </a:ext>
            </a:extLst>
          </p:cNvPr>
          <p:cNvSpPr txBox="1"/>
          <p:nvPr/>
        </p:nvSpPr>
        <p:spPr>
          <a:xfrm>
            <a:off x="9006485" y="3186278"/>
            <a:ext cx="2653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PLATE: SFW5585D</a:t>
            </a:r>
          </a:p>
        </p:txBody>
      </p:sp>
    </p:spTree>
    <p:extLst>
      <p:ext uri="{BB962C8B-B14F-4D97-AF65-F5344CB8AC3E}">
        <p14:creationId xmlns:p14="http://schemas.microsoft.com/office/powerpoint/2010/main" val="170524602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93600" y="186174"/>
            <a:ext cx="9504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 err="1">
                <a:ea typeface="Verdana" panose="020B0604030504040204" pitchFamily="34" charset="0"/>
              </a:rPr>
              <a:t>Introduction</a:t>
            </a:r>
            <a:endParaRPr lang="it-IT" sz="35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1046480"/>
            <a:ext cx="11360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In </a:t>
            </a:r>
            <a:r>
              <a:rPr lang="it-IT" sz="2200" dirty="0" err="1"/>
              <a:t>this</a:t>
            </a:r>
            <a:r>
              <a:rPr lang="it-IT" sz="2200" dirty="0"/>
              <a:t> work: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200" dirty="0"/>
              <a:t>New dataset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200" dirty="0"/>
              <a:t>Deep Learning Pipeline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200" dirty="0"/>
              <a:t>Evaluation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200" dirty="0" err="1"/>
              <a:t>Operationalization</a:t>
            </a:r>
            <a:endParaRPr lang="it-IT" sz="22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3068387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93600" y="186174"/>
            <a:ext cx="9504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>
                <a:ea typeface="Verdana" panose="020B0604030504040204" pitchFamily="34" charset="0"/>
              </a:rPr>
              <a:t>License Plate </a:t>
            </a:r>
            <a:r>
              <a:rPr lang="it-IT" sz="3500" b="1" dirty="0" err="1">
                <a:ea typeface="Verdana" panose="020B0604030504040204" pitchFamily="34" charset="0"/>
              </a:rPr>
              <a:t>Recognition</a:t>
            </a:r>
            <a:endParaRPr lang="it-IT" sz="35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973910"/>
            <a:ext cx="113608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License plate recognition (LPR) is the problem of transcribing the license plate of a vehicle starting from an image or a video. </a:t>
            </a:r>
          </a:p>
          <a:p>
            <a:endParaRPr lang="en-US" sz="2400" i="1" dirty="0"/>
          </a:p>
          <a:p>
            <a:r>
              <a:rPr lang="en-US" sz="2400" dirty="0"/>
              <a:t>Usually solved in 3 steps:</a:t>
            </a:r>
          </a:p>
          <a:p>
            <a:pPr marL="457200" indent="-457200">
              <a:buAutoNum type="arabicPeriod"/>
            </a:pPr>
            <a:r>
              <a:rPr lang="en-US" sz="2400" dirty="0"/>
              <a:t>Identify the area which contains the plate </a:t>
            </a:r>
          </a:p>
          <a:p>
            <a:pPr marL="457200" indent="-457200">
              <a:buAutoNum type="arabicPeriod"/>
            </a:pPr>
            <a:r>
              <a:rPr lang="en-US" sz="2400" dirty="0"/>
              <a:t>Perform segmentation of the individual characters </a:t>
            </a:r>
          </a:p>
          <a:p>
            <a:pPr marL="457200" indent="-457200">
              <a:buAutoNum type="arabicPeriod"/>
            </a:pPr>
            <a:r>
              <a:rPr lang="en-US" sz="2400" dirty="0"/>
              <a:t>Perform Optical character recognition (OCR) on the segmented areas 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r>
              <a:rPr lang="en-US" sz="2400" dirty="0"/>
              <a:t>In this work 2 models are implemented:</a:t>
            </a:r>
          </a:p>
          <a:p>
            <a:pPr marL="457200" indent="-457200">
              <a:buAutoNum type="arabicPeriod"/>
            </a:pPr>
            <a:r>
              <a:rPr lang="en-US" sz="2400" dirty="0"/>
              <a:t>Identify the area which contains the plate (Plate detection)</a:t>
            </a:r>
          </a:p>
          <a:p>
            <a:pPr marL="457200" indent="-457200">
              <a:buAutoNum type="arabicPeriod"/>
            </a:pPr>
            <a:r>
              <a:rPr lang="en-US" sz="2400" strike="sngStrike" dirty="0"/>
              <a:t>Perform segmentation of the individual characters </a:t>
            </a:r>
          </a:p>
          <a:p>
            <a:pPr marL="457200" indent="-457200">
              <a:buAutoNum type="arabicPeriod" startAt="2"/>
            </a:pPr>
            <a:r>
              <a:rPr lang="en-US" sz="2400" dirty="0"/>
              <a:t>Perform OCR on whole identified area (OCR)</a:t>
            </a:r>
          </a:p>
          <a:p>
            <a:endParaRPr lang="en-US" sz="2400" dirty="0"/>
          </a:p>
          <a:p>
            <a:r>
              <a:rPr lang="en-US" sz="2400" dirty="0"/>
              <a:t>(For complexity and </a:t>
            </a:r>
            <a:r>
              <a:rPr lang="en-US" sz="2400" dirty="0" err="1"/>
              <a:t>computationals</a:t>
            </a:r>
            <a:r>
              <a:rPr lang="en-US" sz="2400" dirty="0"/>
              <a:t> reasons)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6790269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93600" y="186174"/>
            <a:ext cx="9504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 err="1">
                <a:ea typeface="Verdana" panose="020B0604030504040204" pitchFamily="34" charset="0"/>
              </a:rPr>
              <a:t>Finding</a:t>
            </a:r>
            <a:r>
              <a:rPr lang="it-IT" sz="3500" b="1" dirty="0">
                <a:ea typeface="Verdana" panose="020B0604030504040204" pitchFamily="34" charset="0"/>
              </a:rPr>
              <a:t> a Dataset</a:t>
            </a:r>
            <a:endParaRPr lang="it-IT" sz="35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1046480"/>
            <a:ext cx="1136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Exploratory research of suitable datasets -&gt; </a:t>
            </a:r>
            <a:r>
              <a:rPr lang="en-US" sz="2400" b="1" dirty="0"/>
              <a:t>disappointing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Many car images datasets -&gt; but not focused on license plates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Many don’t include the bounding box (ground truth)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Many don’t include the license plate transcriptions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few which seem good -&gt; require access from the owners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96411926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93600" y="186174"/>
            <a:ext cx="9504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>
                <a:ea typeface="Verdana" panose="020B0604030504040204" pitchFamily="34" charset="0"/>
              </a:rPr>
              <a:t>Building the Dataset: Human in the loop</a:t>
            </a:r>
            <a:endParaRPr lang="it-IT" sz="35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1046480"/>
            <a:ext cx="11360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idea</a:t>
            </a:r>
            <a:r>
              <a:rPr lang="en-US" sz="2400" dirty="0"/>
              <a:t>: using a (bad) dataset of annotated images to build a model and annotate better images</a:t>
            </a:r>
          </a:p>
          <a:p>
            <a:endParaRPr lang="en-US" sz="2400" dirty="0"/>
          </a:p>
          <a:p>
            <a:r>
              <a:rPr lang="en-US" sz="2400" dirty="0"/>
              <a:t>The process: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Train a (detection) model using the first dataset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Use the model to predict the plate position on the second dataset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Show the predictions. If good (</a:t>
            </a:r>
            <a:r>
              <a:rPr lang="en-US" sz="2400" i="1" dirty="0"/>
              <a:t>judged by a human</a:t>
            </a:r>
            <a:r>
              <a:rPr lang="en-US" sz="2400" dirty="0"/>
              <a:t>), save and move to the training set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Repeat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/>
          </a:p>
          <a:p>
            <a:r>
              <a:rPr lang="en-US" sz="2400" dirty="0"/>
              <a:t>Take-away: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Possibly slower than annotating by hand -&gt; probably better with a good starting point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318704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3" y="184349"/>
            <a:ext cx="9504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>
                <a:ea typeface="Verdana" panose="020B0604030504040204" pitchFamily="34" charset="0"/>
              </a:rPr>
              <a:t>Building the Dataset</a:t>
            </a:r>
            <a:endParaRPr lang="it-IT" sz="35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1046480"/>
            <a:ext cx="11360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Final Dataset:</a:t>
            </a:r>
          </a:p>
          <a:p>
            <a:pPr marL="342900" indent="-342900">
              <a:buFontTx/>
              <a:buChar char="-"/>
            </a:pPr>
            <a:r>
              <a:rPr lang="en-US" sz="2400" b="1" dirty="0"/>
              <a:t>433 </a:t>
            </a:r>
            <a:r>
              <a:rPr lang="en-US" sz="2400" dirty="0"/>
              <a:t>images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Bounding boxes annotated with human-in-the-loop process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License Plates transcribed by hand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magine 3" descr="Immagine che contiene testo, automobile, esterni, scuro&#10;&#10;Descrizione generata automaticamente">
            <a:extLst>
              <a:ext uri="{FF2B5EF4-FFF2-40B4-BE49-F238E27FC236}">
                <a16:creationId xmlns:a16="http://schemas.microsoft.com/office/drawing/2014/main" id="{6071CD19-1504-2100-6E43-801F043EF7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080663"/>
            <a:ext cx="2438400" cy="2438400"/>
          </a:xfrm>
          <a:prstGeom prst="rect">
            <a:avLst/>
          </a:prstGeom>
        </p:spPr>
      </p:pic>
      <p:pic>
        <p:nvPicPr>
          <p:cNvPr id="6" name="Immagine 5" descr="Immagine che contiene testo, esterni, automobile, blu&#10;&#10;Descrizione generata automaticamente">
            <a:extLst>
              <a:ext uri="{FF2B5EF4-FFF2-40B4-BE49-F238E27FC236}">
                <a16:creationId xmlns:a16="http://schemas.microsoft.com/office/drawing/2014/main" id="{8E1274F2-F355-F717-FB31-5EC46092DC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740" y="3080663"/>
            <a:ext cx="2438400" cy="2438400"/>
          </a:xfrm>
          <a:prstGeom prst="rect">
            <a:avLst/>
          </a:prstGeom>
        </p:spPr>
      </p:pic>
      <p:pic>
        <p:nvPicPr>
          <p:cNvPr id="8" name="Immagine 7" descr="Immagine che contiene testo, esterni, automobile, strada&#10;&#10;Descrizione generata automaticamente">
            <a:extLst>
              <a:ext uri="{FF2B5EF4-FFF2-40B4-BE49-F238E27FC236}">
                <a16:creationId xmlns:a16="http://schemas.microsoft.com/office/drawing/2014/main" id="{40A0EAEC-1C36-D768-92F3-B7627254E9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60" y="3080663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440072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3" y="184349"/>
            <a:ext cx="9504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>
                <a:ea typeface="Verdana" panose="020B0604030504040204" pitchFamily="34" charset="0"/>
              </a:rPr>
              <a:t>Data </a:t>
            </a:r>
            <a:r>
              <a:rPr lang="it-IT" sz="3500" b="1" dirty="0" err="1">
                <a:ea typeface="Verdana" panose="020B0604030504040204" pitchFamily="34" charset="0"/>
              </a:rPr>
              <a:t>Augmentation</a:t>
            </a:r>
            <a:endParaRPr lang="it-IT" sz="35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1046480"/>
            <a:ext cx="113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Objectives: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Increase the number of pictures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More diverse picture to increase resilience to noise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magine 4" descr="Immagine che contiene testo, furgone, trasporto, automobile&#10;&#10;Descrizione generata automaticamente">
            <a:extLst>
              <a:ext uri="{FF2B5EF4-FFF2-40B4-BE49-F238E27FC236}">
                <a16:creationId xmlns:a16="http://schemas.microsoft.com/office/drawing/2014/main" id="{A147CF92-0EEE-7779-044A-B7610A8E35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651" y="2847398"/>
            <a:ext cx="9478698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34231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3" y="184349"/>
            <a:ext cx="9504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 err="1">
                <a:ea typeface="Verdana" panose="020B0604030504040204" pitchFamily="34" charset="0"/>
              </a:rPr>
              <a:t>Experiments</a:t>
            </a:r>
            <a:endParaRPr lang="it-IT" sz="35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1046480"/>
            <a:ext cx="1136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Environment: Google </a:t>
            </a:r>
            <a:r>
              <a:rPr lang="en-US" sz="2400" dirty="0" err="1"/>
              <a:t>Colab</a:t>
            </a:r>
            <a:r>
              <a:rPr lang="en-US" sz="2400" dirty="0"/>
              <a:t> Pro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Mostly CNNs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Validation and testing setup: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80% training data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/>
              <a:t>80% training data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/>
              <a:t>20% validation data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20% testing data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b="1" dirty="0"/>
              <a:t>RMSE </a:t>
            </a:r>
            <a:r>
              <a:rPr lang="en-US" sz="2400" dirty="0"/>
              <a:t>as loss function</a:t>
            </a:r>
          </a:p>
          <a:p>
            <a:pPr lvl="1"/>
            <a:endParaRPr lang="en-US" sz="24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76A447A-C9B8-3A2B-78E7-19A17A3BF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32" y="749532"/>
            <a:ext cx="1712913" cy="105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112036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2" y="184349"/>
            <a:ext cx="1026544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 err="1">
                <a:ea typeface="Verdana" panose="020B0604030504040204" pitchFamily="34" charset="0"/>
              </a:rPr>
              <a:t>Experiments</a:t>
            </a:r>
            <a:r>
              <a:rPr lang="it-IT" sz="3500" b="1" dirty="0">
                <a:ea typeface="Verdana" panose="020B0604030504040204" pitchFamily="34" charset="0"/>
              </a:rPr>
              <a:t>: Fine-Tuning the Plate </a:t>
            </a:r>
            <a:r>
              <a:rPr lang="it-IT" sz="3500" b="1" dirty="0" err="1">
                <a:ea typeface="Verdana" panose="020B0604030504040204" pitchFamily="34" charset="0"/>
              </a:rPr>
              <a:t>Detection</a:t>
            </a:r>
            <a:r>
              <a:rPr lang="it-IT" sz="3500" b="1" dirty="0">
                <a:ea typeface="Verdana" panose="020B0604030504040204" pitchFamily="34" charset="0"/>
              </a:rPr>
              <a:t> Model</a:t>
            </a:r>
            <a:endParaRPr lang="it-IT" sz="35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1046480"/>
            <a:ext cx="11360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Keras</a:t>
            </a:r>
            <a:r>
              <a:rPr lang="en-US" sz="2400" dirty="0"/>
              <a:t> offers many pretrained models trained on ImageNet: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 err="1"/>
              <a:t>MobileNet</a:t>
            </a:r>
            <a:r>
              <a:rPr lang="it-IT" sz="2400" dirty="0"/>
              <a:t> and </a:t>
            </a:r>
            <a:r>
              <a:rPr lang="it-IT" sz="2400" dirty="0" err="1"/>
              <a:t>EfficientNet</a:t>
            </a:r>
            <a:endParaRPr lang="en-US" sz="2400" dirty="0"/>
          </a:p>
          <a:p>
            <a:pPr lvl="3"/>
            <a:endParaRPr lang="en-US" sz="2400" dirty="0"/>
          </a:p>
          <a:p>
            <a:r>
              <a:rPr lang="en-US" sz="2400" dirty="0"/>
              <a:t>Big and heavy models </a:t>
            </a:r>
            <a:r>
              <a:rPr lang="en-US" sz="2400" i="1" dirty="0"/>
              <a:t>but </a:t>
            </a:r>
            <a:r>
              <a:rPr lang="en-US" sz="2400" dirty="0"/>
              <a:t>performances similar to models built </a:t>
            </a:r>
            <a:r>
              <a:rPr lang="en-US" sz="2400" b="1" dirty="0"/>
              <a:t>from scratch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1589443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2" y="184349"/>
            <a:ext cx="1026544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 err="1">
                <a:ea typeface="Verdana" panose="020B0604030504040204" pitchFamily="34" charset="0"/>
              </a:rPr>
              <a:t>Experiments</a:t>
            </a:r>
            <a:r>
              <a:rPr lang="it-IT" sz="3500" b="1" dirty="0">
                <a:ea typeface="Verdana" panose="020B0604030504040204" pitchFamily="34" charset="0"/>
              </a:rPr>
              <a:t>: Custom Plate </a:t>
            </a:r>
            <a:r>
              <a:rPr lang="it-IT" sz="3500" b="1" dirty="0" err="1">
                <a:ea typeface="Verdana" panose="020B0604030504040204" pitchFamily="34" charset="0"/>
              </a:rPr>
              <a:t>Detection</a:t>
            </a:r>
            <a:r>
              <a:rPr lang="it-IT" sz="3500" b="1" dirty="0">
                <a:ea typeface="Verdana" panose="020B0604030504040204" pitchFamily="34" charset="0"/>
              </a:rPr>
              <a:t> Model</a:t>
            </a:r>
            <a:endParaRPr lang="it-IT" sz="35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1046480"/>
            <a:ext cx="11360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Building custom CCNs architecture: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Smaller models (</a:t>
            </a:r>
            <a:r>
              <a:rPr lang="it-IT" sz="2400" dirty="0"/>
              <a:t>~10MBs)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Faster training &amp; inference times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Performances similar to pre-trained models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34888538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2" y="184349"/>
            <a:ext cx="1026544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 err="1">
                <a:ea typeface="Verdana" panose="020B0604030504040204" pitchFamily="34" charset="0"/>
              </a:rPr>
              <a:t>Experiments</a:t>
            </a:r>
            <a:r>
              <a:rPr lang="it-IT" sz="3500" b="1" dirty="0">
                <a:ea typeface="Verdana" panose="020B0604030504040204" pitchFamily="34" charset="0"/>
              </a:rPr>
              <a:t>: the OCR model</a:t>
            </a:r>
            <a:endParaRPr lang="it-IT" sz="35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1046480"/>
            <a:ext cx="113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the OCR model: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”Microsoft </a:t>
            </a:r>
            <a:r>
              <a:rPr lang="en-US" sz="2400" dirty="0" err="1"/>
              <a:t>Trocr</a:t>
            </a:r>
            <a:r>
              <a:rPr lang="en-US" sz="2400" dirty="0"/>
              <a:t> Printed” in its large version (from </a:t>
            </a:r>
            <a:r>
              <a:rPr lang="en-US" sz="2400" dirty="0" err="1"/>
              <a:t>HuggingFace</a:t>
            </a:r>
            <a:r>
              <a:rPr lang="en-US" sz="2400" dirty="0"/>
              <a:t> hub)</a:t>
            </a:r>
          </a:p>
          <a:p>
            <a:pPr marL="800100" lvl="1" indent="-342900">
              <a:buFontTx/>
              <a:buChar char="-"/>
            </a:pPr>
            <a:r>
              <a:rPr lang="en-US" sz="2400" b="1" dirty="0"/>
              <a:t>No fine-tuning</a:t>
            </a:r>
            <a:endParaRPr lang="en-US" sz="24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 descr="Hugging Face logo transparent PNG - StickPNG">
            <a:extLst>
              <a:ext uri="{FF2B5EF4-FFF2-40B4-BE49-F238E27FC236}">
                <a16:creationId xmlns:a16="http://schemas.microsoft.com/office/drawing/2014/main" id="{061DBEC4-E838-7273-F7AD-7580B0401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6518" y="1113020"/>
            <a:ext cx="2826432" cy="1043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249317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3" y="2098874"/>
            <a:ext cx="9504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 err="1">
                <a:ea typeface="Verdana" panose="020B0604030504040204" pitchFamily="34" charset="0"/>
              </a:rPr>
              <a:t>Final</a:t>
            </a:r>
            <a:r>
              <a:rPr lang="it-IT" sz="3200" b="1" dirty="0">
                <a:ea typeface="Verdana" panose="020B0604030504040204" pitchFamily="34" charset="0"/>
              </a:rPr>
              <a:t> Pipeline: 2. License Plate </a:t>
            </a:r>
            <a:r>
              <a:rPr lang="it-IT" sz="3200" b="1" dirty="0" err="1">
                <a:ea typeface="Verdana" panose="020B0604030504040204" pitchFamily="34" charset="0"/>
              </a:rPr>
              <a:t>Detection</a:t>
            </a:r>
            <a:endParaRPr lang="it-IT" sz="32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2770505"/>
            <a:ext cx="1136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Three models are used independently : 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 model predicts the bounding box for the original image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 model predicts the bounding box for a black and white version of the image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 model predicts the bounding box for the edge-detection result of the image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r>
              <a:rPr lang="en-US" sz="2400" dirty="0"/>
              <a:t>These 3 model give 3 different </a:t>
            </a:r>
            <a:r>
              <a:rPr lang="en-US" sz="2400" i="1" dirty="0"/>
              <a:t>candidate </a:t>
            </a:r>
            <a:r>
              <a:rPr lang="en-US" sz="2400" i="1" dirty="0" err="1"/>
              <a:t>ares</a:t>
            </a:r>
            <a:r>
              <a:rPr lang="en-US" sz="2400" i="1" dirty="0"/>
              <a:t> </a:t>
            </a:r>
            <a:r>
              <a:rPr lang="en-US" sz="2400" dirty="0"/>
              <a:t>for the bounding boxes -&gt; independently fed into the OCR model</a:t>
            </a:r>
          </a:p>
          <a:p>
            <a:endParaRPr lang="en-US" sz="2400" dirty="0"/>
          </a:p>
          <a:p>
            <a:r>
              <a:rPr lang="en-US" sz="2400" i="1" dirty="0"/>
              <a:t>*(The models were trained after applying the same transformations on the training set)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EABDE3D-0DBA-A708-9A2A-434B23696F34}"/>
              </a:ext>
            </a:extLst>
          </p:cNvPr>
          <p:cNvSpPr txBox="1"/>
          <p:nvPr/>
        </p:nvSpPr>
        <p:spPr>
          <a:xfrm>
            <a:off x="478753" y="184349"/>
            <a:ext cx="9504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 err="1">
                <a:ea typeface="Verdana" panose="020B0604030504040204" pitchFamily="34" charset="0"/>
              </a:rPr>
              <a:t>Final</a:t>
            </a:r>
            <a:r>
              <a:rPr lang="it-IT" sz="3200" b="1" dirty="0">
                <a:ea typeface="Verdana" panose="020B0604030504040204" pitchFamily="34" charset="0"/>
              </a:rPr>
              <a:t> Pipeline: 1. </a:t>
            </a:r>
            <a:r>
              <a:rPr lang="it-IT" sz="3200" b="1" dirty="0" err="1">
                <a:ea typeface="Verdana" panose="020B0604030504040204" pitchFamily="34" charset="0"/>
              </a:rPr>
              <a:t>Pre</a:t>
            </a:r>
            <a:r>
              <a:rPr lang="it-IT" sz="3200" b="1" dirty="0">
                <a:ea typeface="Verdana" panose="020B0604030504040204" pitchFamily="34" charset="0"/>
              </a:rPr>
              <a:t>-Processing</a:t>
            </a:r>
            <a:endParaRPr lang="it-IT" sz="32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9B410BD-AC03-9FDF-76A0-7EE6D9AF65EA}"/>
              </a:ext>
            </a:extLst>
          </p:cNvPr>
          <p:cNvSpPr txBox="1"/>
          <p:nvPr/>
        </p:nvSpPr>
        <p:spPr>
          <a:xfrm>
            <a:off x="497840" y="884555"/>
            <a:ext cx="1136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Resize image to 256x256</a:t>
            </a:r>
          </a:p>
        </p:txBody>
      </p:sp>
    </p:spTree>
    <p:extLst>
      <p:ext uri="{BB962C8B-B14F-4D97-AF65-F5344CB8AC3E}">
        <p14:creationId xmlns:p14="http://schemas.microsoft.com/office/powerpoint/2010/main" val="3191316679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3" y="184349"/>
            <a:ext cx="9504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 err="1">
                <a:ea typeface="Verdana" panose="020B0604030504040204" pitchFamily="34" charset="0"/>
              </a:rPr>
              <a:t>Final</a:t>
            </a:r>
            <a:r>
              <a:rPr lang="it-IT" sz="3200" b="1" dirty="0">
                <a:ea typeface="Verdana" panose="020B0604030504040204" pitchFamily="34" charset="0"/>
              </a:rPr>
              <a:t> Pipeline: 3. OCR</a:t>
            </a:r>
            <a:endParaRPr lang="it-IT" sz="32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890286"/>
            <a:ext cx="1136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Perform 3 different OCR predictions on the 3 candidate areas -&gt; 3 plates predicted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BC8A467-5E64-754D-2D36-0C1246996E7A}"/>
              </a:ext>
            </a:extLst>
          </p:cNvPr>
          <p:cNvSpPr txBox="1"/>
          <p:nvPr/>
        </p:nvSpPr>
        <p:spPr>
          <a:xfrm>
            <a:off x="497840" y="2653518"/>
            <a:ext cx="9504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 err="1">
                <a:ea typeface="Verdana" panose="020B0604030504040204" pitchFamily="34" charset="0"/>
              </a:rPr>
              <a:t>Final</a:t>
            </a:r>
            <a:r>
              <a:rPr lang="it-IT" sz="3200" b="1" dirty="0">
                <a:ea typeface="Verdana" panose="020B0604030504040204" pitchFamily="34" charset="0"/>
              </a:rPr>
              <a:t> Pipeline: 4. Post-processing</a:t>
            </a:r>
            <a:endParaRPr lang="it-IT" sz="32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983AB3D-ED3D-301A-2356-81CA593F3066}"/>
              </a:ext>
            </a:extLst>
          </p:cNvPr>
          <p:cNvSpPr txBox="1"/>
          <p:nvPr/>
        </p:nvSpPr>
        <p:spPr>
          <a:xfrm>
            <a:off x="516927" y="3458499"/>
            <a:ext cx="11360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Remove special characters (symbols, spaces)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Discard plates too short (&lt;4 characters)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Discard plates too long (&gt;12 characters)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Majority vote system for final prediction(s)</a:t>
            </a:r>
          </a:p>
        </p:txBody>
      </p:sp>
    </p:spTree>
    <p:extLst>
      <p:ext uri="{BB962C8B-B14F-4D97-AF65-F5344CB8AC3E}">
        <p14:creationId xmlns:p14="http://schemas.microsoft.com/office/powerpoint/2010/main" val="2067737452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3" y="184349"/>
            <a:ext cx="9504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 err="1">
                <a:ea typeface="Verdana" panose="020B0604030504040204" pitchFamily="34" charset="0"/>
              </a:rPr>
              <a:t>Final</a:t>
            </a:r>
            <a:r>
              <a:rPr lang="it-IT" sz="3500" b="1" dirty="0">
                <a:ea typeface="Verdana" panose="020B0604030504040204" pitchFamily="34" charset="0"/>
              </a:rPr>
              <a:t> Pipeline</a:t>
            </a:r>
            <a:endParaRPr lang="it-IT" sz="35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151CD75-6C44-6F7A-E76A-E6BCC74E6521}"/>
              </a:ext>
            </a:extLst>
          </p:cNvPr>
          <p:cNvSpPr txBox="1"/>
          <p:nvPr/>
        </p:nvSpPr>
        <p:spPr>
          <a:xfrm>
            <a:off x="4641850" y="1270000"/>
            <a:ext cx="29083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Image </a:t>
            </a:r>
            <a:r>
              <a:rPr lang="it-IT" sz="2400" b="1" dirty="0" err="1"/>
              <a:t>pre</a:t>
            </a:r>
            <a:r>
              <a:rPr lang="it-IT" sz="2400" b="1" dirty="0"/>
              <a:t>-processing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EF7DBB6-C59C-A6B7-C0F9-E2BCB9F888B6}"/>
              </a:ext>
            </a:extLst>
          </p:cNvPr>
          <p:cNvSpPr txBox="1"/>
          <p:nvPr/>
        </p:nvSpPr>
        <p:spPr>
          <a:xfrm>
            <a:off x="1379832" y="2522868"/>
            <a:ext cx="29083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Plate </a:t>
            </a:r>
            <a:r>
              <a:rPr lang="it-IT" sz="2400" b="1" dirty="0" err="1"/>
              <a:t>detection</a:t>
            </a:r>
            <a:r>
              <a:rPr lang="it-IT" sz="2400" b="1" dirty="0"/>
              <a:t> (1)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23860B6-6591-8006-0166-508CC3133CC4}"/>
              </a:ext>
            </a:extLst>
          </p:cNvPr>
          <p:cNvSpPr txBox="1"/>
          <p:nvPr/>
        </p:nvSpPr>
        <p:spPr>
          <a:xfrm>
            <a:off x="4634193" y="2522868"/>
            <a:ext cx="29083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Plate </a:t>
            </a:r>
            <a:r>
              <a:rPr lang="it-IT" sz="2400" b="1" dirty="0" err="1"/>
              <a:t>detection</a:t>
            </a:r>
            <a:r>
              <a:rPr lang="it-IT" sz="2400" b="1" dirty="0"/>
              <a:t> (2)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5F1794E-EECF-1AA4-E75E-4B8919BB6BC1}"/>
              </a:ext>
            </a:extLst>
          </p:cNvPr>
          <p:cNvSpPr txBox="1"/>
          <p:nvPr/>
        </p:nvSpPr>
        <p:spPr>
          <a:xfrm>
            <a:off x="7888554" y="2522868"/>
            <a:ext cx="29083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Plate </a:t>
            </a:r>
            <a:r>
              <a:rPr lang="it-IT" sz="2400" b="1" dirty="0" err="1"/>
              <a:t>detection</a:t>
            </a:r>
            <a:r>
              <a:rPr lang="it-IT" sz="2400" b="1" dirty="0"/>
              <a:t> (3)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DFC8A04-4FCA-1854-BB92-5CC60B8D11A0}"/>
              </a:ext>
            </a:extLst>
          </p:cNvPr>
          <p:cNvSpPr txBox="1"/>
          <p:nvPr/>
        </p:nvSpPr>
        <p:spPr>
          <a:xfrm>
            <a:off x="4641850" y="3844369"/>
            <a:ext cx="29083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OCR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2CD275-8EDB-D794-9994-2195B43CFB18}"/>
              </a:ext>
            </a:extLst>
          </p:cNvPr>
          <p:cNvSpPr txBox="1"/>
          <p:nvPr/>
        </p:nvSpPr>
        <p:spPr>
          <a:xfrm>
            <a:off x="4634193" y="5146820"/>
            <a:ext cx="29083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Post-processing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AAFEFF23-323B-E92D-4D6E-EAAAF5488282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flipH="1">
            <a:off x="6088343" y="1731665"/>
            <a:ext cx="7657" cy="7912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0EF722BD-AB42-50CD-8610-7CEE2179F3E2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6096000" y="1731665"/>
            <a:ext cx="3246704" cy="7912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C0D60346-11A5-9217-6F10-F94E0415EF8C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2833982" y="1731665"/>
            <a:ext cx="3262018" cy="7912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6419B2E7-67D3-ADA5-E417-D2C32CEB7DBD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833982" y="2984533"/>
            <a:ext cx="2703491" cy="8503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ED800F5C-F439-A414-66E5-53E201E5D46C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6088343" y="2984533"/>
            <a:ext cx="7657" cy="8598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281F29FD-7072-7483-DC9D-3592D9935A2A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6677025" y="2984533"/>
            <a:ext cx="2665679" cy="8598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0E94F184-D596-C341-5A85-A744341DC828}"/>
              </a:ext>
            </a:extLst>
          </p:cNvPr>
          <p:cNvSpPr txBox="1"/>
          <p:nvPr/>
        </p:nvSpPr>
        <p:spPr>
          <a:xfrm>
            <a:off x="5455271" y="595713"/>
            <a:ext cx="3887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Input image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F72856D2-72B6-0BEB-B260-279D2CD18631}"/>
              </a:ext>
            </a:extLst>
          </p:cNvPr>
          <p:cNvSpPr txBox="1"/>
          <p:nvPr/>
        </p:nvSpPr>
        <p:spPr>
          <a:xfrm>
            <a:off x="5598776" y="5866728"/>
            <a:ext cx="3887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 err="1"/>
              <a:t>Result</a:t>
            </a:r>
            <a:r>
              <a:rPr lang="it-IT" i="1" dirty="0"/>
              <a:t>(s)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430F140C-78C1-D813-0818-9118BCC8AA0E}"/>
              </a:ext>
            </a:extLst>
          </p:cNvPr>
          <p:cNvCxnSpPr>
            <a:endCxn id="7" idx="0"/>
          </p:cNvCxnSpPr>
          <p:nvPr/>
        </p:nvCxnSpPr>
        <p:spPr>
          <a:xfrm>
            <a:off x="6088343" y="991272"/>
            <a:ext cx="7657" cy="27872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ED781452-3835-DADF-93D6-F881293E67BC}"/>
              </a:ext>
            </a:extLst>
          </p:cNvPr>
          <p:cNvCxnSpPr>
            <a:cxnSpLocks/>
          </p:cNvCxnSpPr>
          <p:nvPr/>
        </p:nvCxnSpPr>
        <p:spPr>
          <a:xfrm>
            <a:off x="6078818" y="5677572"/>
            <a:ext cx="7657" cy="21840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163E780F-EB81-91CE-CA65-8B1B67637CF9}"/>
              </a:ext>
            </a:extLst>
          </p:cNvPr>
          <p:cNvCxnSpPr>
            <a:cxnSpLocks/>
          </p:cNvCxnSpPr>
          <p:nvPr/>
        </p:nvCxnSpPr>
        <p:spPr>
          <a:xfrm>
            <a:off x="6080398" y="4308148"/>
            <a:ext cx="7657" cy="8598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7A43087D-3074-C118-B9BF-C5E58FD6FAF9}"/>
              </a:ext>
            </a:extLst>
          </p:cNvPr>
          <p:cNvCxnSpPr>
            <a:cxnSpLocks/>
          </p:cNvCxnSpPr>
          <p:nvPr/>
        </p:nvCxnSpPr>
        <p:spPr>
          <a:xfrm>
            <a:off x="6680473" y="4308148"/>
            <a:ext cx="7657" cy="8598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154A4963-AAE6-FAAD-30E7-5E65F2F77536}"/>
              </a:ext>
            </a:extLst>
          </p:cNvPr>
          <p:cNvCxnSpPr>
            <a:cxnSpLocks/>
          </p:cNvCxnSpPr>
          <p:nvPr/>
        </p:nvCxnSpPr>
        <p:spPr>
          <a:xfrm>
            <a:off x="5480323" y="4308148"/>
            <a:ext cx="7657" cy="8598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559375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3" y="184349"/>
            <a:ext cx="9504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>
                <a:ea typeface="Verdana" panose="020B0604030504040204" pitchFamily="34" charset="0"/>
              </a:rPr>
              <a:t>Evaluation</a:t>
            </a:r>
            <a:endParaRPr lang="it-IT" sz="35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1046480"/>
            <a:ext cx="113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Evaluation conducted for 2 different components: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Plate Detection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OCR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4479205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3" y="184349"/>
            <a:ext cx="9504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>
                <a:ea typeface="Verdana" panose="020B0604030504040204" pitchFamily="34" charset="0"/>
              </a:rPr>
              <a:t>Evaluation (Plate </a:t>
            </a:r>
            <a:r>
              <a:rPr lang="it-IT" sz="3500" b="1" dirty="0" err="1">
                <a:ea typeface="Verdana" panose="020B0604030504040204" pitchFamily="34" charset="0"/>
              </a:rPr>
              <a:t>Detection</a:t>
            </a:r>
            <a:r>
              <a:rPr lang="it-IT" sz="3500" b="1" dirty="0">
                <a:ea typeface="Verdana" panose="020B0604030504040204" pitchFamily="34" charset="0"/>
              </a:rPr>
              <a:t>): RMSE</a:t>
            </a:r>
            <a:endParaRPr lang="it-IT" sz="35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1046480"/>
            <a:ext cx="1136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Root Mean Squared Error indicates how on average each prediction is far away by the ground truth values. The RMSE is defined as:</a:t>
            </a:r>
          </a:p>
          <a:p>
            <a:endParaRPr lang="en-US" sz="2400" i="1" dirty="0"/>
          </a:p>
          <a:p>
            <a:endParaRPr lang="en-US" sz="2400" i="1" dirty="0"/>
          </a:p>
          <a:p>
            <a:endParaRPr lang="en-US" sz="2400" i="1" dirty="0"/>
          </a:p>
          <a:p>
            <a:r>
              <a:rPr lang="en-US" sz="2400" dirty="0"/>
              <a:t>Used both as </a:t>
            </a:r>
            <a:r>
              <a:rPr lang="en-US" sz="2400" b="1" i="1" dirty="0"/>
              <a:t>loss </a:t>
            </a:r>
            <a:r>
              <a:rPr lang="en-US" sz="2400" dirty="0"/>
              <a:t>and </a:t>
            </a:r>
            <a:r>
              <a:rPr lang="en-US" sz="2400" b="1" i="1" dirty="0"/>
              <a:t>metric</a:t>
            </a:r>
            <a:endParaRPr lang="en-US" sz="24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106DACF-0222-CDB3-9EA2-FA6383C16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784" y="2020914"/>
            <a:ext cx="6668431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20838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3" y="184349"/>
            <a:ext cx="9504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>
                <a:ea typeface="Verdana" panose="020B0604030504040204" pitchFamily="34" charset="0"/>
              </a:rPr>
              <a:t>Evaluation (Plate </a:t>
            </a:r>
            <a:r>
              <a:rPr lang="it-IT" sz="3500" b="1" dirty="0" err="1">
                <a:ea typeface="Verdana" panose="020B0604030504040204" pitchFamily="34" charset="0"/>
              </a:rPr>
              <a:t>Detection</a:t>
            </a:r>
            <a:r>
              <a:rPr lang="it-IT" sz="3500" b="1" dirty="0">
                <a:ea typeface="Verdana" panose="020B0604030504040204" pitchFamily="34" charset="0"/>
              </a:rPr>
              <a:t>): IOU</a:t>
            </a:r>
            <a:endParaRPr lang="it-IT" sz="35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1046480"/>
            <a:ext cx="1136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object detection problems, a widely used metric is </a:t>
            </a:r>
            <a:r>
              <a:rPr lang="en-US" sz="2400" dirty="0" err="1"/>
              <a:t>Interseciton</a:t>
            </a:r>
            <a:r>
              <a:rPr lang="en-US" sz="2400" dirty="0"/>
              <a:t> Over Union. </a:t>
            </a:r>
          </a:p>
          <a:p>
            <a:r>
              <a:rPr lang="en-US" sz="2400" dirty="0"/>
              <a:t>It measures how good is the predicted area w.r.t the ground truth</a:t>
            </a:r>
          </a:p>
          <a:p>
            <a:endParaRPr lang="en-US" sz="2400" dirty="0"/>
          </a:p>
          <a:p>
            <a:r>
              <a:rPr lang="en-US" sz="2400" dirty="0"/>
              <a:t>Accounts not only for how much of the region of interest is captured into the prediction, but also how much of uninteresting areas is contained as well. </a:t>
            </a:r>
          </a:p>
          <a:p>
            <a:endParaRPr lang="en-US" sz="24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C91FCEC-00EC-E42F-40DB-3D6CB8787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3653" y="3144148"/>
            <a:ext cx="6944694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72277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3" y="184349"/>
            <a:ext cx="9504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>
                <a:ea typeface="Verdana" panose="020B0604030504040204" pitchFamily="34" charset="0"/>
              </a:rPr>
              <a:t>Evaluation (OCR): </a:t>
            </a:r>
            <a:r>
              <a:rPr lang="it-IT" sz="3500" b="1" dirty="0" err="1">
                <a:ea typeface="Verdana" panose="020B0604030504040204" pitchFamily="34" charset="0"/>
              </a:rPr>
              <a:t>Accuracy</a:t>
            </a:r>
            <a:r>
              <a:rPr lang="it-IT" sz="3500" b="1" dirty="0">
                <a:ea typeface="Verdana" panose="020B0604030504040204" pitchFamily="34" charset="0"/>
              </a:rPr>
              <a:t> and </a:t>
            </a:r>
            <a:r>
              <a:rPr lang="it-IT" sz="3500" b="1" dirty="0" err="1">
                <a:ea typeface="Verdana" panose="020B0604030504040204" pitchFamily="34" charset="0"/>
              </a:rPr>
              <a:t>Levenshtein</a:t>
            </a:r>
            <a:r>
              <a:rPr lang="it-IT" sz="3500" b="1" dirty="0">
                <a:ea typeface="Verdana" panose="020B0604030504040204" pitchFamily="34" charset="0"/>
              </a:rPr>
              <a:t> </a:t>
            </a:r>
            <a:r>
              <a:rPr lang="it-IT" sz="3500" b="1" dirty="0" err="1">
                <a:ea typeface="Verdana" panose="020B0604030504040204" pitchFamily="34" charset="0"/>
              </a:rPr>
              <a:t>Distance</a:t>
            </a:r>
            <a:r>
              <a:rPr lang="it-IT" sz="3500" b="1" dirty="0">
                <a:ea typeface="Verdana" panose="020B0604030504040204" pitchFamily="34" charset="0"/>
              </a:rPr>
              <a:t> 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967F5D-E5AA-48BE-B3E5-B93A360E5923}"/>
              </a:ext>
            </a:extLst>
          </p:cNvPr>
          <p:cNvSpPr txBox="1"/>
          <p:nvPr/>
        </p:nvSpPr>
        <p:spPr>
          <a:xfrm>
            <a:off x="497840" y="1236980"/>
            <a:ext cx="11360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b="1" dirty="0"/>
              <a:t>Accuracy </a:t>
            </a:r>
            <a:r>
              <a:rPr lang="en-US" sz="2400" dirty="0"/>
              <a:t>is the measure of how many of the predictions are exactly equal to the ground truth</a:t>
            </a:r>
          </a:p>
          <a:p>
            <a:pPr marL="342900" indent="-342900">
              <a:buFontTx/>
              <a:buChar char="-"/>
            </a:pPr>
            <a:r>
              <a:rPr lang="it-IT" sz="2400" b="1" dirty="0" err="1"/>
              <a:t>Levenshtein</a:t>
            </a:r>
            <a:r>
              <a:rPr lang="it-IT" sz="2400" b="1" dirty="0"/>
              <a:t> </a:t>
            </a:r>
            <a:r>
              <a:rPr lang="it-IT" sz="2400" b="1" dirty="0" err="1"/>
              <a:t>Distance</a:t>
            </a:r>
            <a:r>
              <a:rPr lang="it-IT" sz="2400" b="1" dirty="0"/>
              <a:t> </a:t>
            </a:r>
            <a:r>
              <a:rPr lang="it-IT" sz="2400" dirty="0" err="1"/>
              <a:t>measures</a:t>
            </a:r>
            <a:r>
              <a:rPr lang="it-IT" sz="2400" dirty="0"/>
              <a:t> the </a:t>
            </a:r>
            <a:r>
              <a:rPr lang="it-IT" sz="2400" dirty="0" err="1"/>
              <a:t>edit</a:t>
            </a:r>
            <a:r>
              <a:rPr lang="it-IT" sz="2400" dirty="0"/>
              <a:t> </a:t>
            </a:r>
            <a:r>
              <a:rPr lang="it-IT" sz="2400" dirty="0" err="1"/>
              <a:t>distance</a:t>
            </a:r>
            <a:r>
              <a:rPr lang="it-IT" sz="2400" dirty="0"/>
              <a:t> </a:t>
            </a:r>
            <a:r>
              <a:rPr lang="it-IT" sz="2400" dirty="0" err="1"/>
              <a:t>between</a:t>
            </a:r>
            <a:r>
              <a:rPr lang="it-IT" sz="2400" dirty="0"/>
              <a:t> </a:t>
            </a:r>
            <a:r>
              <a:rPr lang="it-IT" sz="2400" dirty="0" err="1"/>
              <a:t>two</a:t>
            </a:r>
            <a:r>
              <a:rPr lang="it-IT" sz="2400" dirty="0"/>
              <a:t> words (</a:t>
            </a:r>
            <a:r>
              <a:rPr lang="it-IT" sz="2400" dirty="0" err="1"/>
              <a:t>true</a:t>
            </a:r>
            <a:r>
              <a:rPr lang="it-IT" sz="2400" dirty="0"/>
              <a:t> </a:t>
            </a:r>
            <a:r>
              <a:rPr lang="it-IT" sz="2400" dirty="0" err="1"/>
              <a:t>plate</a:t>
            </a:r>
            <a:r>
              <a:rPr lang="it-IT" sz="2400" dirty="0"/>
              <a:t> and </a:t>
            </a:r>
            <a:r>
              <a:rPr lang="it-IT" sz="2400" dirty="0" err="1"/>
              <a:t>predicted</a:t>
            </a:r>
            <a:r>
              <a:rPr lang="it-IT" sz="2400" dirty="0"/>
              <a:t> </a:t>
            </a:r>
            <a:r>
              <a:rPr lang="it-IT" sz="2400" dirty="0" err="1"/>
              <a:t>plate</a:t>
            </a:r>
            <a:r>
              <a:rPr lang="it-IT" sz="2400" dirty="0"/>
              <a:t>)</a:t>
            </a:r>
            <a:endParaRPr lang="en-US" sz="2400" b="1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1729020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3" y="184349"/>
            <a:ext cx="9504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 err="1">
                <a:ea typeface="Verdana" panose="020B0604030504040204" pitchFamily="34" charset="0"/>
              </a:rPr>
              <a:t>Results</a:t>
            </a:r>
            <a:endParaRPr lang="it-IT" sz="3500" b="1" dirty="0">
              <a:ea typeface="Verdana" panose="020B0604030504040204" pitchFamily="34" charset="0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9D1B05E-C21C-E9A0-223A-F862C4F15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0473" y="1311339"/>
            <a:ext cx="5871053" cy="161903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F4402F2-7757-5375-6C53-A3F60D6E92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7340" y="3554517"/>
            <a:ext cx="6801799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91624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3" y="184349"/>
            <a:ext cx="9504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 err="1">
                <a:ea typeface="Verdana" panose="020B0604030504040204" pitchFamily="34" charset="0"/>
              </a:rPr>
              <a:t>Results</a:t>
            </a:r>
            <a:endParaRPr lang="it-IT" sz="3500" b="1" dirty="0">
              <a:ea typeface="Verdana" panose="020B0604030504040204" pitchFamily="34" charset="0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54F5CC1-E119-0643-9385-18C12C6AF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784" y="1055870"/>
            <a:ext cx="7030431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74832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3" y="184349"/>
            <a:ext cx="9504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 err="1">
                <a:ea typeface="Verdana" panose="020B0604030504040204" pitchFamily="34" charset="0"/>
              </a:rPr>
              <a:t>Operationalizing</a:t>
            </a:r>
            <a:r>
              <a:rPr lang="it-IT" sz="3500" b="1" dirty="0">
                <a:ea typeface="Verdana" panose="020B0604030504040204" pitchFamily="34" charset="0"/>
              </a:rPr>
              <a:t> the models 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7CA7FF3-C991-0E9B-A952-BA35495B936D}"/>
              </a:ext>
            </a:extLst>
          </p:cNvPr>
          <p:cNvSpPr txBox="1"/>
          <p:nvPr/>
        </p:nvSpPr>
        <p:spPr>
          <a:xfrm>
            <a:off x="497840" y="1046480"/>
            <a:ext cx="113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Operationalize</a:t>
            </a:r>
            <a:r>
              <a:rPr lang="it-IT" sz="2400" dirty="0"/>
              <a:t> the model </a:t>
            </a:r>
            <a:r>
              <a:rPr lang="it-IT" sz="2400" dirty="0" err="1"/>
              <a:t>using</a:t>
            </a:r>
            <a:r>
              <a:rPr lang="it-IT" sz="2400" dirty="0"/>
              <a:t>:</a:t>
            </a:r>
          </a:p>
          <a:p>
            <a:pPr marL="342900" indent="-342900">
              <a:buFontTx/>
              <a:buChar char="-"/>
            </a:pPr>
            <a:r>
              <a:rPr lang="it-IT" sz="2400" dirty="0"/>
              <a:t>Python web server 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dirty="0" err="1"/>
              <a:t>backend</a:t>
            </a:r>
            <a:endParaRPr lang="it-IT" sz="2400" dirty="0"/>
          </a:p>
          <a:p>
            <a:pPr marL="342900" indent="-342900">
              <a:buFontTx/>
              <a:buChar char="-"/>
            </a:pPr>
            <a:r>
              <a:rPr lang="it-IT" sz="2400" dirty="0" err="1"/>
              <a:t>Telegram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dirty="0" err="1"/>
              <a:t>frontend</a:t>
            </a:r>
            <a:endParaRPr lang="it-IT" sz="2400" dirty="0"/>
          </a:p>
        </p:txBody>
      </p:sp>
      <p:pic>
        <p:nvPicPr>
          <p:cNvPr id="1030" name="Picture 6" descr="Flask Logo PNG Transparent &amp; SVG Vector - Freebie Supply">
            <a:extLst>
              <a:ext uri="{FF2B5EF4-FFF2-40B4-BE49-F238E27FC236}">
                <a16:creationId xmlns:a16="http://schemas.microsoft.com/office/drawing/2014/main" id="{0151E54D-EB95-9A17-BA1C-BEE5C7B64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3799" y="3310997"/>
            <a:ext cx="1081938" cy="139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0D1835B-BD63-6591-9EFC-A58F93FB6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273" y="3398085"/>
            <a:ext cx="1268967" cy="139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7840AB45-7536-CC9B-F522-F299F4CF5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918" y="3434642"/>
            <a:ext cx="12003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793887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2D4D62E-D5DB-7CF2-777C-4E941D066C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3" y="142287"/>
            <a:ext cx="1781668" cy="5954400"/>
          </a:xfrm>
          <a:prstGeom prst="rect">
            <a:avLst/>
          </a:prstGeom>
        </p:spPr>
      </p:pic>
      <p:pic>
        <p:nvPicPr>
          <p:cNvPr id="12" name="Immagine 11" descr="Immagine che contiene testo, interni&#10;&#10;Descrizione generata automaticamente">
            <a:extLst>
              <a:ext uri="{FF2B5EF4-FFF2-40B4-BE49-F238E27FC236}">
                <a16:creationId xmlns:a16="http://schemas.microsoft.com/office/drawing/2014/main" id="{707D9A8B-94BD-6AE9-F2BF-172E9E1DC0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200" y="148069"/>
            <a:ext cx="1576985" cy="5954400"/>
          </a:xfrm>
          <a:prstGeom prst="rect">
            <a:avLst/>
          </a:prstGeom>
        </p:spPr>
      </p:pic>
      <p:pic>
        <p:nvPicPr>
          <p:cNvPr id="14" name="Immagine 13" descr="Immagine che contiene testo, automobile&#10;&#10;Descrizione generata automaticamente">
            <a:extLst>
              <a:ext uri="{FF2B5EF4-FFF2-40B4-BE49-F238E27FC236}">
                <a16:creationId xmlns:a16="http://schemas.microsoft.com/office/drawing/2014/main" id="{24E714E0-D1D1-DE89-ACBC-C3B47DD354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965" y="132762"/>
            <a:ext cx="1656068" cy="5954400"/>
          </a:xfrm>
          <a:prstGeom prst="rect">
            <a:avLst/>
          </a:prstGeom>
        </p:spPr>
      </p:pic>
      <p:pic>
        <p:nvPicPr>
          <p:cNvPr id="17" name="Immagine 16" descr="Immagine che contiene testo, interni&#10;&#10;Descrizione generata automaticamente">
            <a:extLst>
              <a:ext uri="{FF2B5EF4-FFF2-40B4-BE49-F238E27FC236}">
                <a16:creationId xmlns:a16="http://schemas.microsoft.com/office/drawing/2014/main" id="{1D4F4750-6C91-9A46-DBAA-D18B481987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587" y="129656"/>
            <a:ext cx="1762683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70112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A2930C-46B1-49BA-9064-DC4577CB569F}"/>
              </a:ext>
            </a:extLst>
          </p:cNvPr>
          <p:cNvSpPr txBox="1"/>
          <p:nvPr/>
        </p:nvSpPr>
        <p:spPr>
          <a:xfrm>
            <a:off x="478753" y="184349"/>
            <a:ext cx="9504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500" b="1" dirty="0">
                <a:ea typeface="Verdana" panose="020B0604030504040204" pitchFamily="34" charset="0"/>
              </a:rPr>
              <a:t>Future works and </a:t>
            </a:r>
            <a:r>
              <a:rPr lang="it-IT" sz="3500" b="1" dirty="0" err="1">
                <a:ea typeface="Verdana" panose="020B0604030504040204" pitchFamily="34" charset="0"/>
              </a:rPr>
              <a:t>improvements</a:t>
            </a:r>
            <a:r>
              <a:rPr lang="it-IT" sz="3600" dirty="0"/>
              <a:t> </a:t>
            </a:r>
            <a:endParaRPr lang="it-IT" sz="35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C2DDEBA-1DA9-4BB1-96D3-4C57EBB3F892}"/>
              </a:ext>
            </a:extLst>
          </p:cNvPr>
          <p:cNvSpPr/>
          <p:nvPr/>
        </p:nvSpPr>
        <p:spPr>
          <a:xfrm>
            <a:off x="1" y="6329779"/>
            <a:ext cx="12192000" cy="528221"/>
          </a:xfrm>
          <a:prstGeom prst="rect">
            <a:avLst/>
          </a:prstGeom>
          <a:solidFill>
            <a:srgbClr val="0E2A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659C000-269C-4B07-BC2F-8DCB97CD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60" y="6386929"/>
            <a:ext cx="391754" cy="394871"/>
          </a:xfrm>
          <a:prstGeom prst="rect">
            <a:avLst/>
          </a:prstGeom>
        </p:spPr>
      </p:pic>
      <p:sp>
        <p:nvSpPr>
          <p:cNvPr id="19" name="Google Shape;347;p59">
            <a:extLst>
              <a:ext uri="{FF2B5EF4-FFF2-40B4-BE49-F238E27FC236}">
                <a16:creationId xmlns:a16="http://schemas.microsoft.com/office/drawing/2014/main" id="{1E6502A7-CBFE-4A13-9622-DC5C74085BC2}"/>
              </a:ext>
            </a:extLst>
          </p:cNvPr>
          <p:cNvSpPr txBox="1">
            <a:spLocks/>
          </p:cNvSpPr>
          <p:nvPr/>
        </p:nvSpPr>
        <p:spPr>
          <a:xfrm>
            <a:off x="4885032" y="6070150"/>
            <a:ext cx="9809536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Science – </a:t>
            </a:r>
            <a:r>
              <a:rPr lang="it-IT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it-IT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Intelligence</a:t>
            </a:r>
          </a:p>
        </p:txBody>
      </p:sp>
      <p:sp>
        <p:nvSpPr>
          <p:cNvPr id="2" name="Google Shape;347;p59">
            <a:extLst>
              <a:ext uri="{FF2B5EF4-FFF2-40B4-BE49-F238E27FC236}">
                <a16:creationId xmlns:a16="http://schemas.microsoft.com/office/drawing/2014/main" id="{43514EB0-6EEB-2DB4-59E6-A17433C04EEA}"/>
              </a:ext>
            </a:extLst>
          </p:cNvPr>
          <p:cNvSpPr txBox="1">
            <a:spLocks/>
          </p:cNvSpPr>
          <p:nvPr/>
        </p:nvSpPr>
        <p:spPr>
          <a:xfrm>
            <a:off x="478753" y="6089200"/>
            <a:ext cx="3807424" cy="7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Bari Aldo Moro     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5F0B03F-9303-AFDC-D311-11ABD8F8A217}"/>
              </a:ext>
            </a:extLst>
          </p:cNvPr>
          <p:cNvSpPr txBox="1"/>
          <p:nvPr/>
        </p:nvSpPr>
        <p:spPr>
          <a:xfrm>
            <a:off x="497840" y="1046480"/>
            <a:ext cx="11360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 err="1"/>
              <a:t>Improve</a:t>
            </a:r>
            <a:r>
              <a:rPr lang="it-IT" sz="2400" b="1" dirty="0"/>
              <a:t> the dataset</a:t>
            </a:r>
            <a:r>
              <a:rPr lang="en-US" sz="2400" b="1" dirty="0"/>
              <a:t> (more, better and diverse images)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More data augmentation (also transformations that alter the position of the plate)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 wider images (e.g. 512x512)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Fine-tuning the OCR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More post processing (e.g. license plate regexes)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762540280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492</TotalTime>
  <Words>1092</Words>
  <Application>Microsoft Office PowerPoint</Application>
  <PresentationFormat>Widescreen</PresentationFormat>
  <Paragraphs>183</Paragraphs>
  <Slides>24</Slides>
  <Notes>24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Wingdings</vt:lpstr>
      <vt:lpstr>Tema di Office</vt:lpstr>
      <vt:lpstr>Presentazione standard di PowerPoint</vt:lpstr>
      <vt:lpstr>University of Bari Aldo Moro    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Università degli Studi di Bari Aldo Moro</dc:title>
  <cp:lastModifiedBy>Gianfranco Demarco</cp:lastModifiedBy>
  <cp:revision>138</cp:revision>
  <dcterms:created xsi:type="dcterms:W3CDTF">2021-07-10T14:16:05Z</dcterms:created>
  <dcterms:modified xsi:type="dcterms:W3CDTF">2022-09-22T11:10:44Z</dcterms:modified>
</cp:coreProperties>
</file>